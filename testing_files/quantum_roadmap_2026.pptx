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10800000">
            <a:off x="7315200" y="0"/>
            <a:ext cx="4876495" cy="6858000"/>
          </a:xfrm>
          <a:prstGeom prst="rtTriangl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The Quantum Computing Roadmap</a:t>
            </a:r>
          </a:p>
          <a:p>
            <a:pPr>
              <a:spcBef>
                <a:spcPts val="1000"/>
              </a:spcBef>
              <a:defRPr sz="2000">
                <a:solidFill>
                  <a:srgbClr val="EAF2F2"/>
                </a:solidFill>
              </a:defRPr>
            </a:pPr>
            <a:r>
              <a:t>Bridging Theoretical Physics and Next-Generation Enterprise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solidFill>
              <a:srgbClr val="F9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Executive Summary: The Next Paradigm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400"/>
              </a:spcAft>
              <a:defRPr sz="1800">
                <a:solidFill>
                  <a:srgbClr val="1F2937"/>
                </a:solidFill>
              </a:defRPr>
            </a:pPr>
            <a:r>
              <a:t>• Quantum computing represents a fundamental shift away from classical binary states towards multi-dimensional superposition.</a:t>
            </a:r>
          </a:p>
          <a:p>
            <a:pPr>
              <a:spcAft>
                <a:spcPts val="2400"/>
              </a:spcAft>
              <a:defRPr sz="1800">
                <a:solidFill>
                  <a:srgbClr val="1F2937"/>
                </a:solidFill>
              </a:defRPr>
            </a:pPr>
            <a:r>
              <a:t>• This roadmap establishes the explicit technological milestones required for fault-tolerant commercial deployment by 2030.</a:t>
            </a:r>
          </a:p>
          <a:p>
            <a:pPr>
              <a:spcAft>
                <a:spcPts val="2400"/>
              </a:spcAft>
              <a:defRPr sz="1800">
                <a:solidFill>
                  <a:srgbClr val="1F2937"/>
                </a:solidFill>
              </a:defRPr>
            </a:pPr>
            <a:r>
              <a:t>• Initial strategic implementations target cryptographic defenses, high-dimensional molecular modeling, and logistical matrix operations.</a:t>
            </a:r>
          </a:p>
          <a:p>
            <a:pPr>
              <a:spcAft>
                <a:spcPts val="2400"/>
              </a:spcAft>
              <a:defRPr sz="1800">
                <a:solidFill>
                  <a:srgbClr val="1F2937"/>
                </a:solidFill>
              </a:defRPr>
            </a:pPr>
            <a:r>
              <a:t>• Organizations must construct hybrid architectures immediately to hedge against upcoming quantum-driven computational disruptions.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solidFill>
              <a:srgbClr val="F9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Architectural Comparison: Classical vs. Quantum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828800"/>
          <a:ext cx="103619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037990"/>
                <a:gridCol w="4037990"/>
              </a:tblGrid>
              <a:tr h="10287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Metric / Dimension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Classical Systems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FFFFFF"/>
                          </a:solidFill>
                        </a:defRPr>
                      </a:pPr>
                      <a:r>
                        <a:t>Quantum Frameworks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Information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Bits (0 or 1 completely isolated discrete channels).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Qubits (Simultaneous superposition states via Bloch Sphere representation).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Processing Scaling</a:t>
                      </a:r>
                    </a:p>
                  </a:txBody>
                  <a:tcPr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Linear progression scaling directly as O(N) hardware expands.</a:t>
                      </a:r>
                    </a:p>
                  </a:txBody>
                  <a:tcPr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Exponential scaling capacity unlocking O(2^N) operational spaces.</a:t>
                      </a:r>
                    </a:p>
                  </a:txBody>
                  <a:tcPr>
                    <a:solidFill>
                      <a:srgbClr val="EAF2F2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Primary Algorithms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Boolean Logic, Floating Point Arithmetic, Standard Sorting.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</a:defRPr>
                      </a:pPr>
                      <a:r>
                        <a:t>Shor's Integer Factorization, Grover's Sub-linear Matrix Searches.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solidFill>
              <a:srgbClr val="F9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Core Pillars of Quantum Mechanics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31089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3108960" cy="7315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Superposition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The mathematical capacity of a qubit to exist simultaneously in a linear combination of |0⟩ and |1⟩ states until measured.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011680"/>
            <a:ext cx="31089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2011680"/>
            <a:ext cx="3108960" cy="7315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Entanglement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9260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A non-local connection linking qubits such that the physical state of one instantaneously determines the state of its paired counterpart.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011680"/>
            <a:ext cx="3108960" cy="3657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2011680"/>
            <a:ext cx="3108960" cy="731520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Interference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9260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2937"/>
                </a:solidFill>
              </a:defRPr>
            </a:pPr>
            <a:r>
              <a:t>The programmatic manipulation of wave functions to amplify constructive paths toward correct answers while canceling wrong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solidFill>
              <a:srgbClr val="F9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Hardware Horizons: Target Quantum Volumes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011680"/>
            <a:ext cx="45720" cy="411480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6126480"/>
            <a:ext cx="9448495" cy="45720"/>
          </a:xfrm>
          <a:prstGeom prst="rect">
            <a:avLst/>
          </a:prstGeom>
          <a:solidFill>
            <a:srgbClr val="1F293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03120" y="5212080"/>
            <a:ext cx="1371600" cy="914400"/>
          </a:xfrm>
          <a:prstGeom prst="rect">
            <a:avLst/>
          </a:prstGeom>
          <a:solidFill>
            <a:srgbClr val="1E3A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4846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F2937"/>
                </a:solidFill>
              </a:defRPr>
            </a:pPr>
            <a:r>
              <a:t>1K Qubits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1F2937"/>
                </a:solidFill>
              </a:defRPr>
            </a:pPr>
            <a:r>
              <a:t>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4297680"/>
            <a:ext cx="1371600" cy="1828800"/>
          </a:xfrm>
          <a:prstGeom prst="rect">
            <a:avLst/>
          </a:prstGeom>
          <a:solidFill>
            <a:srgbClr val="1E3A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39319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F2937"/>
                </a:solidFill>
              </a:defRPr>
            </a:pPr>
            <a:r>
              <a:t>10K Qubits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1F2937"/>
                </a:solidFill>
              </a:defRPr>
            </a:pPr>
            <a:r>
              <a:t>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3200400"/>
            <a:ext cx="1371600" cy="292608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2834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F2937"/>
                </a:solidFill>
              </a:defRPr>
            </a:pPr>
            <a:r>
              <a:t>100K Qubits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1F2937"/>
                </a:solidFill>
              </a:defRPr>
            </a:pPr>
            <a:r>
              <a:t>2028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2286000"/>
            <a:ext cx="1371600" cy="384048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9202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200">
                <a:solidFill>
                  <a:srgbClr val="1F2937"/>
                </a:solidFill>
              </a:defRPr>
            </a:pPr>
            <a:r>
              <a:t>1M+ Fault-Tolerant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621792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1F2937"/>
                </a:solidFill>
              </a:defRPr>
            </a:pPr>
            <a:r>
              <a:t>2030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18872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■ Blue: Physical Qubits</a:t>
            </a:r>
            <a:br/>
            <a:r>
              <a:t>■ Teal: Logical Error-Corrected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solidFill>
              <a:srgbClr val="F9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Error Correction Process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560320"/>
            <a:ext cx="29260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194560"/>
            <a:ext cx="731520" cy="731520"/>
          </a:xfrm>
          <a:prstGeom prst="ellipse">
            <a:avLst/>
          </a:prstGeom>
          <a:solidFill>
            <a:srgbClr val="1E3A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F766E"/>
                </a:solidFill>
              </a:defRPr>
            </a:pPr>
            <a:r>
              <a:t>Physical Overhead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Gathering hundreds of noisy physical qubits to act cooperatively as one stable system.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23360" y="3749040"/>
            <a:ext cx="365760" cy="365760"/>
          </a:xfrm>
          <a:prstGeom prst="rightArrow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0" y="2560320"/>
            <a:ext cx="29260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54880" y="2194560"/>
            <a:ext cx="731520" cy="731520"/>
          </a:xfrm>
          <a:prstGeom prst="ellipse">
            <a:avLst/>
          </a:prstGeom>
          <a:solidFill>
            <a:srgbClr val="1E3A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0896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F766E"/>
                </a:solidFill>
              </a:defRPr>
            </a:pPr>
            <a:r>
              <a:t>Syndrome Extraction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Continuously measuring ancillary circuits without breaking core underlying superpositions.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680960" y="3749040"/>
            <a:ext cx="365760" cy="365760"/>
          </a:xfrm>
          <a:prstGeom prst="rightArrow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2560320"/>
            <a:ext cx="292608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0" y="2194560"/>
            <a:ext cx="731520" cy="731520"/>
          </a:xfrm>
          <a:prstGeom prst="ellipse">
            <a:avLst/>
          </a:prstGeom>
          <a:solidFill>
            <a:srgbClr val="1E3A8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08960"/>
            <a:ext cx="2560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600">
                <a:solidFill>
                  <a:srgbClr val="0F766E"/>
                </a:solidFill>
              </a:defRPr>
            </a:pPr>
            <a:r>
              <a:t>Active Phase Correction</a:t>
            </a:r>
          </a:p>
          <a:p>
            <a:pPr>
              <a:defRPr sz="1300">
                <a:solidFill>
                  <a:srgbClr val="1F2937"/>
                </a:solidFill>
              </a:defRPr>
            </a:pPr>
            <a:r>
              <a:t>Applying automated real-time algorithmic phase flips to neutralize environmental degradation.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solidFill>
              <a:srgbClr val="F9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Strategic Industry Use Cases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4846320" cy="2011680"/>
          </a:xfrm>
          <a:prstGeom prst="rect">
            <a:avLst/>
          </a:prstGeom>
          <a:solidFill>
            <a:srgbClr val="EAF2F2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1E3A8A"/>
                </a:solidFill>
              </a:defRPr>
            </a:pPr>
            <a:r>
              <a:t>Biomedical Engineering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Simulating complex atomic configurations within protein folding chains to bypass traditional multi-year brute force clinical trial pathways completely.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4846320" cy="2011680"/>
          </a:xfrm>
          <a:prstGeom prst="rect">
            <a:avLst/>
          </a:prstGeom>
          <a:solidFill>
            <a:srgbClr val="EAF2F2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3736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1E3A8A"/>
                </a:solidFill>
              </a:defRPr>
            </a:pPr>
            <a:r>
              <a:t>Financial Modeling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Optimizing multi-variate high-frequency arbitrage algorithms and calculating non-linear risk surfaces via accelerated Monte Carlo frameworks.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4846320" cy="2011680"/>
          </a:xfrm>
          <a:prstGeom prst="rect">
            <a:avLst/>
          </a:prstGeom>
          <a:solidFill>
            <a:srgbClr val="EAF2F2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1E3A8A"/>
                </a:solidFill>
              </a:defRPr>
            </a:pPr>
            <a:r>
              <a:t>Supply Chain Logistics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Resolving complex traveling salesperson bottlenecks across global maritime networks simultaneously to achieve absolute global efficiency optimization.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4114800"/>
            <a:ext cx="4846320" cy="2011680"/>
          </a:xfrm>
          <a:prstGeom prst="rect">
            <a:avLst/>
          </a:prstGeom>
          <a:solidFill>
            <a:srgbClr val="EAF2F2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4805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b="1" sz="1600">
                <a:solidFill>
                  <a:srgbClr val="1E3A8A"/>
                </a:solidFill>
              </a:defRPr>
            </a:pPr>
            <a:r>
              <a:t>Cybersecurity / Defense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Migrating standard enterprise infrastructures over to Post-Quantum Cryptography (PQC) structures before historical RSA protection schemes fail.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solidFill>
              <a:srgbClr val="F9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Cryptographic Horizons &amp; Critical Deadlines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011680"/>
          <a:ext cx="103628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3047695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Algorithm Family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Current Threat Profile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Vulnerability Window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Mitigation Strategy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RSA-2048 / RSA-4096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High Risk: Vulnerable to total systemic compromise via Shor's evaluation framework.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Estimated 2028 - 2030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Immediate migration to Lattice-Based Cryptographic modules.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AES-128 / AES-256</a:t>
                      </a:r>
                    </a:p>
                  </a:txBody>
                  <a:tcPr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Moderate Risk: Effective keyspace effectively halved via Grover's sub-linear lookup speed.</a:t>
                      </a:r>
                    </a:p>
                  </a:txBody>
                  <a:tcPr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Persistent Security</a:t>
                      </a:r>
                    </a:p>
                  </a:txBody>
                  <a:tcPr>
                    <a:solidFill>
                      <a:srgbClr val="EA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Enforce transition to mandatory 256-bit symmetric block layers globally.</a:t>
                      </a:r>
                    </a:p>
                  </a:txBody>
                  <a:tcPr>
                    <a:solidFill>
                      <a:srgbClr val="EAF2F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ECC (Elliptic Curve)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Critical Risk: Complete key extraction potential via sub-exponential derivation loops.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Estimated 2027 - 2029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</a:defRPr>
                      </a:pPr>
                      <a:r>
                        <a:t>Deploy dual-key hybrid encapsulation layers across data channels.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solidFill>
              <a:srgbClr val="F9FA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Organizational Execution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0362895" cy="73152"/>
          </a:xfrm>
          <a:prstGeom prst="rect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86000" y="3520440"/>
            <a:ext cx="320040" cy="320040"/>
          </a:xfrm>
          <a:prstGeom prst="ellipse">
            <a:avLst/>
          </a:prstGeom>
          <a:solidFill>
            <a:srgbClr val="1E3A8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6032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0F766E"/>
                </a:solidFill>
              </a:defRPr>
            </a:pPr>
            <a:r>
              <a:t>Phase 1: 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Audit active data storage systems to build an exhaustive taxonomy of algorithm signatures currently used across all corporate environments.</a:t>
            </a:r>
          </a:p>
        </p:txBody>
      </p:sp>
      <p:sp>
        <p:nvSpPr>
          <p:cNvPr id="9" name="Oval 8"/>
          <p:cNvSpPr/>
          <p:nvPr/>
        </p:nvSpPr>
        <p:spPr>
          <a:xfrm>
            <a:off x="5943600" y="3520440"/>
            <a:ext cx="320040" cy="320040"/>
          </a:xfrm>
          <a:prstGeom prst="ellipse">
            <a:avLst/>
          </a:prstGeom>
          <a:solidFill>
            <a:srgbClr val="1E3A8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56032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0F766E"/>
                </a:solidFill>
              </a:defRPr>
            </a:pPr>
            <a:r>
              <a:t>Phase 2: 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114800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Establish pilot teams to evaluate open-source post-quantum encryption stacks and build cryptographic agility configurations into current workflows.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0" y="3520440"/>
            <a:ext cx="320040" cy="320040"/>
          </a:xfrm>
          <a:prstGeom prst="ellipse">
            <a:avLst/>
          </a:prstGeom>
          <a:solidFill>
            <a:srgbClr val="1E3A8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560320"/>
            <a:ext cx="2148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0F766E"/>
                </a:solidFill>
              </a:defRPr>
            </a:pPr>
            <a:r>
              <a:t>Phase 3: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3063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1F2937"/>
                </a:solidFill>
              </a:defRPr>
            </a:pPr>
            <a:r>
              <a:t>Begin deep structural field migrations for highly classified data stores, moving them completely over to fully production-ready PQC standards.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0" y="4114800"/>
            <a:ext cx="3657600" cy="2743200"/>
          </a:xfrm>
          <a:prstGeom prst="triangle">
            <a:avLst/>
          </a:prstGeom>
          <a:solidFill>
            <a:srgbClr val="0F766E"/>
          </a:solidFill>
          <a:ln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484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Quantum Era is Deterministic.</a:t>
            </a:r>
          </a:p>
          <a:p>
            <a:pPr>
              <a:spcBef>
                <a:spcPts val="1400"/>
              </a:spcBef>
              <a:defRPr sz="1800">
                <a:solidFill>
                  <a:srgbClr val="EAF2F2"/>
                </a:solidFill>
              </a:defRPr>
            </a:pPr>
            <a:r>
              <a:t>Early adaptation determines computational hegemony over the next half-century.</a:t>
            </a:r>
            <a:br/>
            <a:r>
              <a:t>Secure your assets, train your engineers, and re-engineer your core algorithms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